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8500" y="457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동아리 공연 사전 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953500" y="444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무대운영팀</a:t>
            </a:r>
            <a:endParaRPr lang="en-US" sz="1100" dirty="0"/>
          </a:p>
        </p:txBody>
      </p:sp>
      <p:pic>
        <p:nvPicPr>
          <p:cNvPr id="4" name="Image 0" descr="/tmp/claude-0/-home-user--/d4824d1a-d19e-5bee-9489-6869dd4e929e/scratchpad/web/logo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1000" y="952500"/>
            <a:ext cx="6032500" cy="238244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 rot="-840000">
            <a:off x="508000" y="1905000"/>
            <a:ext cx="4826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F6F6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Matthew 28:19–20</a:t>
            </a:r>
            <a:endParaRPr lang="en-US" sz="2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6F6F6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HANDONG GLOBAL UNIVERSITY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98500" y="3810000"/>
            <a:ext cx="571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동아리 공연 사전 OT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60400" y="4203700"/>
            <a:ext cx="762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0" dirty="0">
                <a:solidFill>
                  <a:srgbClr val="FFFFFF"/>
                </a:solidFill>
                <a:latin typeface="YoonChe Bold" pitchFamily="34" charset="0"/>
                <a:ea typeface="YoonChe Bold" pitchFamily="34" charset="-122"/>
                <a:cs typeface="YoonChe Bold" pitchFamily="34" charset="-120"/>
              </a:rPr>
              <a:t>별 꿈이 다 있네</a:t>
            </a:r>
            <a:endParaRPr lang="en-US" sz="7500" dirty="0"/>
          </a:p>
        </p:txBody>
      </p:sp>
      <p:sp>
        <p:nvSpPr>
          <p:cNvPr id="8" name="Text 5"/>
          <p:cNvSpPr txBox="1"/>
          <p:nvPr/>
        </p:nvSpPr>
        <p:spPr>
          <a:xfrm>
            <a:off x="698500" y="5715000"/>
            <a:ext cx="2667000" cy="3683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2026 창문축제 | 동아리 공연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3500" y="5181600"/>
            <a:ext cx="38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8A8A8A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동아리 공연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048500" y="5473700"/>
            <a:ext cx="4445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2026.11.05–06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8500" y="457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동아리 공연 사전 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953500" y="444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02</a:t>
            </a:r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/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89000"/>
            <a:ext cx="952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목차</a:t>
            </a:r>
            <a:pPr algn="l"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  |  </a:t>
            </a:r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CONTENTS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698500" y="2730500"/>
            <a:ext cx="3163661" cy="1519464"/>
          </a:xfrm>
          <a:custGeom>
            <a:avLst/>
            <a:gdLst/>
            <a:ahLst/>
            <a:cxnLst/>
            <a:rect l="l" t="t" r="r" b="b"/>
            <a:pathLst>
              <a:path w="3163661" h="1519464">
                <a:moveTo>
                  <a:pt x="136071" y="0"/>
                </a:moveTo>
                <a:lnTo>
                  <a:pt x="737054" y="0"/>
                </a:lnTo>
                <a:lnTo>
                  <a:pt x="3129643" y="669018"/>
                </a:lnTo>
                <a:lnTo>
                  <a:pt x="3163661" y="1519464"/>
                </a:lnTo>
                <a:lnTo>
                  <a:pt x="0" y="1519464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127500" y="2476500"/>
            <a:ext cx="1116484" cy="111648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4957885" y="3306885"/>
            <a:ext cx="307033" cy="307033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202115" y="3572049"/>
            <a:ext cx="181429" cy="18142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8500" y="4826000"/>
            <a:ext cx="444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1. 한동 = 채플 건물 조형</a:t>
            </a:r>
            <a:endParaRPr lang="en-US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2. 꿈을 꾸고 나눔 = 상상풍선 / 말풍선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6000" y="1905000"/>
            <a:ext cx="5397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96000" y="1905000"/>
            <a:ext cx="57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667500" y="1905000"/>
            <a:ext cx="4826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INFORMATION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096000" y="2489200"/>
            <a:ext cx="5397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2489200"/>
            <a:ext cx="57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67500" y="2489200"/>
            <a:ext cx="4826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컨셉 안내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096000" y="3073400"/>
            <a:ext cx="5397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96000" y="3073400"/>
            <a:ext cx="57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67500" y="3073400"/>
            <a:ext cx="4826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무대 세부 타임라인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6096000" y="3657600"/>
            <a:ext cx="5397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96000" y="3657600"/>
            <a:ext cx="57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667500" y="3657600"/>
            <a:ext cx="4826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요청사항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096000" y="4241800"/>
            <a:ext cx="5397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96000" y="4241800"/>
            <a:ext cx="57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667500" y="4241800"/>
            <a:ext cx="4826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동아리 공연 순서 발표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6096000" y="4826000"/>
            <a:ext cx="5397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96000" y="4826000"/>
            <a:ext cx="57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667500" y="4826000"/>
            <a:ext cx="4826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사회자 멘트 종합 공지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6096000" y="5410200"/>
            <a:ext cx="5397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96000" y="5410200"/>
            <a:ext cx="57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07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667500" y="5410200"/>
            <a:ext cx="4826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Q&amp;A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6096000" y="5994400"/>
            <a:ext cx="5397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8500" y="457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동아리 공연 사전 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953500" y="444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03</a:t>
            </a:r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/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89000"/>
            <a:ext cx="952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D35185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01  </a:t>
            </a:r>
            <a:pPr algn="l" indent="0" marL="0">
              <a:lnSpc>
                <a:spcPct val="100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INFORMATION</a:t>
            </a:r>
            <a:pPr algn="l"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  |  </a:t>
            </a:r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동아리 공연 기본 정보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635000" y="1905000"/>
            <a:ext cx="48260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0" b="1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13</a:t>
            </a:r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 팀</a:t>
            </a:r>
            <a:endParaRPr lang="en-US" sz="18000" dirty="0"/>
          </a:p>
        </p:txBody>
      </p:sp>
      <p:sp>
        <p:nvSpPr>
          <p:cNvPr id="6" name="Text 4"/>
          <p:cNvSpPr txBox="1"/>
          <p:nvPr/>
        </p:nvSpPr>
        <p:spPr>
          <a:xfrm>
            <a:off x="736600" y="4445000"/>
            <a:ext cx="444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참가 동아리 총 13개 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41839" y="5080000"/>
            <a:ext cx="368576" cy="306457"/>
          </a:xfrm>
          <a:custGeom>
            <a:avLst/>
            <a:gdLst/>
            <a:ahLst/>
            <a:cxnLst/>
            <a:rect l="l" t="t" r="r" b="b"/>
            <a:pathLst>
              <a:path w="368576" h="306457">
                <a:moveTo>
                  <a:pt x="24848" y="0"/>
                </a:moveTo>
                <a:lnTo>
                  <a:pt x="368576" y="20707"/>
                </a:lnTo>
                <a:lnTo>
                  <a:pt x="347870" y="306457"/>
                </a:lnTo>
                <a:lnTo>
                  <a:pt x="0" y="285750"/>
                </a:lnTo>
                <a:close/>
              </a:path>
            </a:pathLst>
          </a:custGeom>
          <a:solidFill>
            <a:srgbClr val="6B6B6B"/>
          </a:solidFill>
          <a:ln/>
        </p:spPr>
      </p:sp>
      <p:sp>
        <p:nvSpPr>
          <p:cNvPr id="8" name="Shape 6"/>
          <p:cNvSpPr/>
          <p:nvPr/>
        </p:nvSpPr>
        <p:spPr>
          <a:xfrm>
            <a:off x="736600" y="5531402"/>
            <a:ext cx="492815" cy="352011"/>
          </a:xfrm>
          <a:custGeom>
            <a:avLst/>
            <a:gdLst/>
            <a:ahLst/>
            <a:cxnLst/>
            <a:rect l="l" t="t" r="r" b="b"/>
            <a:pathLst>
              <a:path w="492815" h="352011">
                <a:moveTo>
                  <a:pt x="33130" y="0"/>
                </a:moveTo>
                <a:lnTo>
                  <a:pt x="492815" y="33130"/>
                </a:lnTo>
                <a:lnTo>
                  <a:pt x="472109" y="352011"/>
                </a:lnTo>
                <a:lnTo>
                  <a:pt x="0" y="318880"/>
                </a:lnTo>
                <a:close/>
              </a:path>
            </a:pathLst>
          </a:custGeom>
          <a:solidFill>
            <a:srgbClr val="6B6B6B"/>
          </a:solidFill>
          <a:ln/>
        </p:spPr>
      </p:sp>
      <p:sp>
        <p:nvSpPr>
          <p:cNvPr id="9" name="Shape 7"/>
          <p:cNvSpPr/>
          <p:nvPr/>
        </p:nvSpPr>
        <p:spPr>
          <a:xfrm>
            <a:off x="1233557" y="5411304"/>
            <a:ext cx="1018761" cy="488674"/>
          </a:xfrm>
          <a:custGeom>
            <a:avLst/>
            <a:gdLst/>
            <a:ahLst/>
            <a:cxnLst/>
            <a:rect l="l" t="t" r="r" b="b"/>
            <a:pathLst>
              <a:path w="1018761" h="488674">
                <a:moveTo>
                  <a:pt x="24848" y="8283"/>
                </a:moveTo>
                <a:lnTo>
                  <a:pt x="207065" y="0"/>
                </a:lnTo>
                <a:lnTo>
                  <a:pt x="981489" y="173935"/>
                </a:lnTo>
                <a:lnTo>
                  <a:pt x="1018761" y="443120"/>
                </a:lnTo>
                <a:lnTo>
                  <a:pt x="0" y="488674"/>
                </a:lnTo>
                <a:close/>
              </a:path>
            </a:pathLst>
          </a:custGeom>
          <a:solidFill>
            <a:srgbClr val="6B6B6B"/>
          </a:solidFill>
          <a:ln/>
        </p:spPr>
      </p:sp>
      <p:sp>
        <p:nvSpPr>
          <p:cNvPr id="10" name="Shape 8"/>
          <p:cNvSpPr/>
          <p:nvPr/>
        </p:nvSpPr>
        <p:spPr>
          <a:xfrm>
            <a:off x="1564861" y="5100707"/>
            <a:ext cx="331304" cy="331304"/>
          </a:xfrm>
          <a:prstGeom prst="ellipse">
            <a:avLst/>
          </a:prstGeom>
          <a:solidFill>
            <a:srgbClr val="6B6B6B"/>
          </a:solidFill>
          <a:ln/>
        </p:spPr>
      </p:sp>
      <p:sp>
        <p:nvSpPr>
          <p:cNvPr id="11" name="Shape 9"/>
          <p:cNvSpPr/>
          <p:nvPr/>
        </p:nvSpPr>
        <p:spPr>
          <a:xfrm>
            <a:off x="1825763" y="5386457"/>
            <a:ext cx="74543" cy="74543"/>
          </a:xfrm>
          <a:prstGeom prst="ellipse">
            <a:avLst/>
          </a:prstGeom>
          <a:solidFill>
            <a:srgbClr val="6B6B6B"/>
          </a:solidFill>
          <a:ln/>
        </p:spPr>
      </p:sp>
      <p:sp>
        <p:nvSpPr>
          <p:cNvPr id="12" name="Shape 10"/>
          <p:cNvSpPr/>
          <p:nvPr/>
        </p:nvSpPr>
        <p:spPr>
          <a:xfrm>
            <a:off x="1900307" y="5456859"/>
            <a:ext cx="49696" cy="49696"/>
          </a:xfrm>
          <a:prstGeom prst="ellipse">
            <a:avLst/>
          </a:prstGeom>
          <a:solidFill>
            <a:srgbClr val="6B6B6B"/>
          </a:solidFill>
          <a:ln/>
        </p:spPr>
      </p:sp>
      <p:sp>
        <p:nvSpPr>
          <p:cNvPr id="13" name="Shape 11"/>
          <p:cNvSpPr/>
          <p:nvPr/>
        </p:nvSpPr>
        <p:spPr>
          <a:xfrm>
            <a:off x="5715000" y="2095500"/>
            <a:ext cx="5778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15000" y="2311400"/>
            <a:ext cx="139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타이틀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112000" y="2260600"/>
            <a:ext cx="438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별 꿈이 다 있네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715000" y="2806700"/>
            <a:ext cx="5778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715000" y="3022600"/>
            <a:ext cx="139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리허설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112000" y="2971800"/>
            <a:ext cx="438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35185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● </a:t>
            </a:r>
            <a:pPr algn="l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DAY2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  11.05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715000" y="3517900"/>
            <a:ext cx="5778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15000" y="3733800"/>
            <a:ext cx="139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공연 일정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112000" y="3683000"/>
            <a:ext cx="43815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35185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● </a:t>
            </a:r>
            <a:pPr algn="l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DAY2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  11.05 · 18:00–20:00</a:t>
            </a:r>
            <a:endParaRPr lang="en-US" sz="2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891C3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● </a:t>
            </a:r>
            <a:pPr algn="l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DAY3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  11.06 · 17:45–19:30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715000" y="4635500"/>
            <a:ext cx="57785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8500" y="457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동아리 공연 사전 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953500" y="444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04</a:t>
            </a:r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/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89000"/>
            <a:ext cx="952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A0D096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02  </a:t>
            </a:r>
            <a:pPr algn="l" indent="0" marL="0">
              <a:lnSpc>
                <a:spcPct val="100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컨셉 안내</a:t>
            </a:r>
            <a:pPr algn="l"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  |  </a:t>
            </a:r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별 꿈이 다 있네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698500" y="2095500"/>
            <a:ext cx="5461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동아리원 한 사람 한 사람은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별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, 동아리는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별자리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.</a:t>
            </a:r>
            <a:endParaRPr lang="en-US" sz="18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별자리가 모여 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한동의 밤하늘</a:t>
            </a:r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을 채웁니다.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98500" y="3238500"/>
            <a:ext cx="52070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8500" y="3238500"/>
            <a:ext cx="50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6500" y="3238500"/>
            <a:ext cx="1079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별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3238500"/>
            <a:ext cx="3619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동아리원 개개인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98500" y="3873500"/>
            <a:ext cx="52070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8500" y="3873500"/>
            <a:ext cx="50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06500" y="3873500"/>
            <a:ext cx="1079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별자리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873500"/>
            <a:ext cx="3619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하나의 동아리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8500" y="4508500"/>
            <a:ext cx="52070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8500" y="4508500"/>
            <a:ext cx="50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06500" y="4508500"/>
            <a:ext cx="1079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밤하늘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4508500"/>
            <a:ext cx="3619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별자리가 함께 채우는 한동의 무대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8500" y="5143500"/>
            <a:ext cx="520700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pic>
        <p:nvPicPr>
          <p:cNvPr id="19" name="Image 0" descr="동아리 공연 별자리 예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1500" y="1651000"/>
            <a:ext cx="4572000" cy="457200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921500" y="6286500"/>
            <a:ext cx="4572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동아리 공연 별자리 예시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8500" y="457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동아리 공연 사전 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953500" y="444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05</a:t>
            </a:r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/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89000"/>
            <a:ext cx="952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891C3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03  </a:t>
            </a:r>
            <a:pPr algn="l" indent="0" marL="0">
              <a:lnSpc>
                <a:spcPct val="100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무대 세부 타임라인</a:t>
            </a:r>
            <a:pPr algn="l"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  |  </a:t>
            </a:r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동아리별 무대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8953500" y="8890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15</a:t>
            </a:r>
            <a:pPr algn="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 분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98500" y="2095500"/>
            <a:ext cx="2143760" cy="952500"/>
          </a:xfrm>
          <a:prstGeom prst="rect">
            <a:avLst/>
          </a:prstGeom>
          <a:solidFill>
            <a:srgbClr val="D3518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3600" y="2197100"/>
            <a:ext cx="19532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3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 분</a:t>
            </a:r>
            <a:endParaRPr lang="en-US" sz="3500" dirty="0"/>
          </a:p>
        </p:txBody>
      </p:sp>
      <p:sp>
        <p:nvSpPr>
          <p:cNvPr id="8" name="Text 6"/>
          <p:cNvSpPr txBox="1"/>
          <p:nvPr/>
        </p:nvSpPr>
        <p:spPr>
          <a:xfrm>
            <a:off x="876300" y="2717800"/>
            <a:ext cx="195326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오프닝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880360" y="2095500"/>
            <a:ext cx="7145867" cy="952500"/>
          </a:xfrm>
          <a:prstGeom prst="rect">
            <a:avLst/>
          </a:prstGeom>
          <a:solidFill>
            <a:srgbClr val="A0D0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45460" y="2197100"/>
            <a:ext cx="6955367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10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 분</a:t>
            </a:r>
            <a:endParaRPr lang="en-US" sz="3500" dirty="0"/>
          </a:p>
        </p:txBody>
      </p:sp>
      <p:sp>
        <p:nvSpPr>
          <p:cNvPr id="11" name="Text 9"/>
          <p:cNvSpPr txBox="1"/>
          <p:nvPr/>
        </p:nvSpPr>
        <p:spPr>
          <a:xfrm>
            <a:off x="3058160" y="2717800"/>
            <a:ext cx="6955367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동아리 공연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064327" y="2095500"/>
            <a:ext cx="1429173" cy="952500"/>
          </a:xfrm>
          <a:prstGeom prst="rect">
            <a:avLst/>
          </a:prstGeom>
          <a:solidFill>
            <a:srgbClr val="8891C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229427" y="2197100"/>
            <a:ext cx="123867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2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 분</a:t>
            </a:r>
            <a:endParaRPr lang="en-US" sz="3500" dirty="0"/>
          </a:p>
        </p:txBody>
      </p:sp>
      <p:sp>
        <p:nvSpPr>
          <p:cNvPr id="14" name="Text 12"/>
          <p:cNvSpPr txBox="1"/>
          <p:nvPr/>
        </p:nvSpPr>
        <p:spPr>
          <a:xfrm>
            <a:off x="10242127" y="2717800"/>
            <a:ext cx="123867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인사·퇴장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4500" y="3200400"/>
            <a:ext cx="50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0′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603500" y="3200400"/>
            <a:ext cx="50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3′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800167" y="3200400"/>
            <a:ext cx="50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13′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239500" y="3200400"/>
            <a:ext cx="50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15′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98500" y="3746500"/>
            <a:ext cx="334433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3.1  </a:t>
            </a:r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오프닝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98500" y="4140200"/>
            <a:ext cx="3344333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8500" y="4267200"/>
            <a:ext cx="3344333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약 45초 로고 애니메이션 재생</a:t>
            </a:r>
            <a:endParaRPr lang="en-US" sz="1400" dirty="0"/>
          </a:p>
          <a:p>
            <a:pPr algn="l" lvl="1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별자리 애니메이션</a:t>
            </a:r>
            <a:endParaRPr lang="en-US" sz="1400" dirty="0"/>
          </a:p>
          <a:p>
            <a:pPr algn="l"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동아리 소개 및 꿈 소개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423833" y="3746500"/>
            <a:ext cx="334433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3.2  </a:t>
            </a:r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동아리 공연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423833" y="4140200"/>
            <a:ext cx="3344333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23833" y="4267200"/>
            <a:ext cx="3344333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동아리 자체 기획으로 진행</a:t>
            </a:r>
            <a:endParaRPr lang="en-US" sz="1400" dirty="0"/>
          </a:p>
          <a:p>
            <a:pPr algn="l" marL="177800" indent="-1778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한동의 정서에 반(反)하지 않는 공연 기획</a:t>
            </a:r>
            <a:endParaRPr lang="en-US" sz="1400" dirty="0"/>
          </a:p>
          <a:p>
            <a:pPr algn="l" lvl="1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ex) 곡 선정, 퍼포먼스</a:t>
            </a:r>
            <a:endParaRPr lang="en-US" sz="1400" dirty="0"/>
          </a:p>
          <a:p>
            <a:pPr algn="l"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굿즈 공지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49167" y="3746500"/>
            <a:ext cx="334433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3.3  </a:t>
            </a:r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인사 및 퇴장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149167" y="4140200"/>
            <a:ext cx="3344333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49167" y="4267200"/>
            <a:ext cx="3344333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퇴장 시 유의사항</a:t>
            </a:r>
            <a:endParaRPr lang="en-US" sz="1400" dirty="0"/>
          </a:p>
          <a:p>
            <a:pPr algn="l"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딜레이를 방지하여 빠르게 퇴장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8500" y="457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동아리 공연 사전 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953500" y="444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06</a:t>
            </a:r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/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89000"/>
            <a:ext cx="952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6E25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04  </a:t>
            </a:r>
            <a:pPr algn="l" indent="0" marL="0">
              <a:lnSpc>
                <a:spcPct val="100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요청사항</a:t>
            </a:r>
            <a:pPr algn="l"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  |  </a:t>
            </a:r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꼭 확인해주세요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698500" y="2032000"/>
            <a:ext cx="51117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81750" y="2032000"/>
            <a:ext cx="51117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8500" y="2286000"/>
            <a:ext cx="513582" cy="513582"/>
          </a:xfrm>
          <a:prstGeom prst="ellipse">
            <a:avLst/>
          </a:prstGeom>
          <a:solidFill>
            <a:srgbClr val="D35185"/>
          </a:solidFill>
          <a:ln/>
        </p:spPr>
      </p:sp>
      <p:sp>
        <p:nvSpPr>
          <p:cNvPr id="8" name="Shape 6"/>
          <p:cNvSpPr/>
          <p:nvPr/>
        </p:nvSpPr>
        <p:spPr>
          <a:xfrm>
            <a:off x="1080477" y="2667977"/>
            <a:ext cx="141235" cy="141235"/>
          </a:xfrm>
          <a:prstGeom prst="ellipse">
            <a:avLst/>
          </a:prstGeom>
          <a:solidFill>
            <a:srgbClr val="D35185"/>
          </a:solidFill>
          <a:ln/>
        </p:spPr>
      </p:sp>
      <p:sp>
        <p:nvSpPr>
          <p:cNvPr id="9" name="Shape 7"/>
          <p:cNvSpPr/>
          <p:nvPr/>
        </p:nvSpPr>
        <p:spPr>
          <a:xfrm>
            <a:off x="1192823" y="2789953"/>
            <a:ext cx="83457" cy="83457"/>
          </a:xfrm>
          <a:prstGeom prst="ellipse">
            <a:avLst/>
          </a:prstGeom>
          <a:solidFill>
            <a:srgbClr val="D3518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8500" y="2286000"/>
            <a:ext cx="5143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60500" y="2273300"/>
            <a:ext cx="4349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동아리 꿈 소개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0500" y="2743200"/>
            <a:ext cx="434975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오프닝에서 소개할</a:t>
            </a:r>
            <a:endParaRPr lang="en-US" sz="14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우리 동아리의 꿈을 준비해주세요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98500" y="3937000"/>
            <a:ext cx="51117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1750" y="2286000"/>
            <a:ext cx="513582" cy="513582"/>
          </a:xfrm>
          <a:prstGeom prst="ellipse">
            <a:avLst/>
          </a:prstGeom>
          <a:solidFill>
            <a:srgbClr val="A0D096"/>
          </a:solidFill>
          <a:ln/>
        </p:spPr>
      </p:sp>
      <p:sp>
        <p:nvSpPr>
          <p:cNvPr id="15" name="Shape 13"/>
          <p:cNvSpPr/>
          <p:nvPr/>
        </p:nvSpPr>
        <p:spPr>
          <a:xfrm>
            <a:off x="6763727" y="2667977"/>
            <a:ext cx="141235" cy="141235"/>
          </a:xfrm>
          <a:prstGeom prst="ellipse">
            <a:avLst/>
          </a:prstGeom>
          <a:solidFill>
            <a:srgbClr val="A0D096"/>
          </a:solidFill>
          <a:ln/>
        </p:spPr>
      </p:sp>
      <p:sp>
        <p:nvSpPr>
          <p:cNvPr id="16" name="Shape 14"/>
          <p:cNvSpPr/>
          <p:nvPr/>
        </p:nvSpPr>
        <p:spPr>
          <a:xfrm>
            <a:off x="6876073" y="2789953"/>
            <a:ext cx="83457" cy="83457"/>
          </a:xfrm>
          <a:prstGeom prst="ellipse">
            <a:avLst/>
          </a:prstGeom>
          <a:solidFill>
            <a:srgbClr val="A0D0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81750" y="2286000"/>
            <a:ext cx="5143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43750" y="2273300"/>
            <a:ext cx="4349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제출 파일 안내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143750" y="2768600"/>
            <a:ext cx="685800" cy="254000"/>
          </a:xfrm>
          <a:prstGeom prst="roundRect">
            <a:avLst>
              <a:gd name="adj" fmla="val 50400"/>
            </a:avLst>
          </a:prstGeom>
          <a:ln w="12700">
            <a:solidFill>
              <a:srgbClr val="5A5A5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43750" y="2768600"/>
            <a:ext cx="685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큐시트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93050" y="2768600"/>
            <a:ext cx="990600" cy="254000"/>
          </a:xfrm>
          <a:prstGeom prst="roundRect">
            <a:avLst>
              <a:gd name="adj" fmla="val 50400"/>
            </a:avLst>
          </a:prstGeom>
          <a:ln w="12700">
            <a:solidFill>
              <a:srgbClr val="5A5A5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93050" y="2768600"/>
            <a:ext cx="990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스크립트*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947150" y="2768600"/>
            <a:ext cx="1143000" cy="254000"/>
          </a:xfrm>
          <a:prstGeom prst="roundRect">
            <a:avLst>
              <a:gd name="adj" fmla="val 50400"/>
            </a:avLst>
          </a:prstGeom>
          <a:ln w="12700">
            <a:solidFill>
              <a:srgbClr val="5A5A5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47150" y="2768600"/>
            <a:ext cx="114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장비 리스트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153650" y="2768600"/>
            <a:ext cx="990600" cy="254000"/>
          </a:xfrm>
          <a:prstGeom prst="roundRect">
            <a:avLst>
              <a:gd name="adj" fmla="val 50400"/>
            </a:avLst>
          </a:prstGeom>
          <a:ln w="12700">
            <a:solidFill>
              <a:srgbClr val="5A5A5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53650" y="2768600"/>
            <a:ext cx="990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음원 파일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43750" y="3086100"/>
            <a:ext cx="1143000" cy="254000"/>
          </a:xfrm>
          <a:prstGeom prst="roundRect">
            <a:avLst>
              <a:gd name="adj" fmla="val 50400"/>
            </a:avLst>
          </a:prstGeom>
          <a:ln w="12700">
            <a:solidFill>
              <a:srgbClr val="5A5A5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43750" y="3086100"/>
            <a:ext cx="114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가사 PPT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143750" y="3454400"/>
            <a:ext cx="2413000" cy="292100"/>
          </a:xfrm>
          <a:prstGeom prst="rect">
            <a:avLst/>
          </a:prstGeom>
          <a:solidFill>
            <a:srgbClr val="F6E2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제출 기한 : __월 __일까지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381750" y="3937000"/>
            <a:ext cx="51117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8500" y="4191000"/>
            <a:ext cx="513582" cy="513582"/>
          </a:xfrm>
          <a:prstGeom prst="ellipse">
            <a:avLst/>
          </a:prstGeom>
          <a:solidFill>
            <a:srgbClr val="8891C3"/>
          </a:solidFill>
          <a:ln/>
        </p:spPr>
      </p:sp>
      <p:sp>
        <p:nvSpPr>
          <p:cNvPr id="32" name="Shape 30"/>
          <p:cNvSpPr/>
          <p:nvPr/>
        </p:nvSpPr>
        <p:spPr>
          <a:xfrm>
            <a:off x="1080477" y="4572977"/>
            <a:ext cx="141235" cy="141235"/>
          </a:xfrm>
          <a:prstGeom prst="ellipse">
            <a:avLst/>
          </a:prstGeom>
          <a:solidFill>
            <a:srgbClr val="8891C3"/>
          </a:solidFill>
          <a:ln/>
        </p:spPr>
      </p:sp>
      <p:sp>
        <p:nvSpPr>
          <p:cNvPr id="33" name="Shape 31"/>
          <p:cNvSpPr/>
          <p:nvPr/>
        </p:nvSpPr>
        <p:spPr>
          <a:xfrm>
            <a:off x="1192823" y="4694953"/>
            <a:ext cx="83457" cy="83457"/>
          </a:xfrm>
          <a:prstGeom prst="ellipse">
            <a:avLst/>
          </a:prstGeom>
          <a:solidFill>
            <a:srgbClr val="8891C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98500" y="4191000"/>
            <a:ext cx="5143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03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460500" y="4178300"/>
            <a:ext cx="4349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공지 및 안내 필독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460500" y="4648200"/>
            <a:ext cx="434975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무대운영팀의 공지와 안내를</a:t>
            </a:r>
            <a:endParaRPr lang="en-US" sz="14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꼭 확인해주세요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698500" y="5842000"/>
            <a:ext cx="51117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81750" y="4191000"/>
            <a:ext cx="513582" cy="513582"/>
          </a:xfrm>
          <a:prstGeom prst="ellipse">
            <a:avLst/>
          </a:prstGeom>
          <a:solidFill>
            <a:srgbClr val="F6E25A"/>
          </a:solidFill>
          <a:ln/>
        </p:spPr>
      </p:sp>
      <p:sp>
        <p:nvSpPr>
          <p:cNvPr id="39" name="Shape 37"/>
          <p:cNvSpPr/>
          <p:nvPr/>
        </p:nvSpPr>
        <p:spPr>
          <a:xfrm>
            <a:off x="6763727" y="4572977"/>
            <a:ext cx="141235" cy="141235"/>
          </a:xfrm>
          <a:prstGeom prst="ellipse">
            <a:avLst/>
          </a:prstGeom>
          <a:solidFill>
            <a:srgbClr val="F6E25A"/>
          </a:solidFill>
          <a:ln/>
        </p:spPr>
      </p:sp>
      <p:sp>
        <p:nvSpPr>
          <p:cNvPr id="40" name="Shape 38"/>
          <p:cNvSpPr/>
          <p:nvPr/>
        </p:nvSpPr>
        <p:spPr>
          <a:xfrm>
            <a:off x="6876073" y="4694953"/>
            <a:ext cx="83457" cy="83457"/>
          </a:xfrm>
          <a:prstGeom prst="ellipse">
            <a:avLst/>
          </a:prstGeom>
          <a:solidFill>
            <a:srgbClr val="F6E25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381750" y="4191000"/>
            <a:ext cx="5143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04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143750" y="4178300"/>
            <a:ext cx="4349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리허설 일정 체크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7143750" y="4648200"/>
            <a:ext cx="434975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DAY2 · 11.05 리허설 일정을</a:t>
            </a:r>
            <a:endParaRPr lang="en-US" sz="14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미리 확인해주세요</a:t>
            </a:r>
            <a:endParaRPr lang="en-US" sz="1450" dirty="0"/>
          </a:p>
        </p:txBody>
      </p:sp>
      <p:sp>
        <p:nvSpPr>
          <p:cNvPr id="44" name="Shape 42"/>
          <p:cNvSpPr/>
          <p:nvPr/>
        </p:nvSpPr>
        <p:spPr>
          <a:xfrm>
            <a:off x="6381750" y="5842000"/>
            <a:ext cx="51117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BDA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8500" y="457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5B58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동아리 공연 사전 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953500" y="444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07</a:t>
            </a:r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5B58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/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89000"/>
            <a:ext cx="952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04  </a:t>
            </a:r>
            <a:pPr algn="l" indent="0" marL="0">
              <a:lnSpc>
                <a:spcPct val="100000"/>
              </a:lnSpc>
              <a:buNone/>
            </a:pPr>
            <a:r>
              <a:rPr lang="en-US" sz="39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큐시트 예시</a:t>
            </a:r>
            <a:pPr algn="l"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5C5B58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  |  </a:t>
            </a:r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5C5B58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작년 동아리 제출물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0439400" y="1587500"/>
            <a:ext cx="1054100" cy="241300"/>
          </a:xfrm>
          <a:prstGeom prst="roundRect">
            <a:avLst>
              <a:gd name="adj" fmla="val 49263"/>
            </a:avLst>
          </a:prstGeom>
          <a:ln w="12700">
            <a:solidFill>
              <a:srgbClr val="7A79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439400" y="1587500"/>
            <a:ext cx="10541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가사 PPT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461500" y="1587500"/>
            <a:ext cx="914400" cy="241300"/>
          </a:xfrm>
          <a:prstGeom prst="roundRect">
            <a:avLst>
              <a:gd name="adj" fmla="val 49263"/>
            </a:avLst>
          </a:prstGeom>
          <a:ln w="12700">
            <a:solidFill>
              <a:srgbClr val="7A79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461500" y="1587500"/>
            <a:ext cx="9144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음원 파일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343900" y="1587500"/>
            <a:ext cx="1054100" cy="241300"/>
          </a:xfrm>
          <a:prstGeom prst="roundRect">
            <a:avLst>
              <a:gd name="adj" fmla="val 49263"/>
            </a:avLst>
          </a:prstGeom>
          <a:ln w="12700">
            <a:solidFill>
              <a:srgbClr val="7A797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43900" y="1587500"/>
            <a:ext cx="10541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장비 리스트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66000" y="1587500"/>
            <a:ext cx="914400" cy="241300"/>
          </a:xfrm>
          <a:prstGeom prst="roundRect">
            <a:avLst>
              <a:gd name="adj" fmla="val 49263"/>
            </a:avLst>
          </a:prstGeom>
          <a:ln w="12700">
            <a:solidFill>
              <a:srgbClr val="7A797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66000" y="1587500"/>
            <a:ext cx="9144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스크립트*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7500" y="1587500"/>
            <a:ext cx="635000" cy="241300"/>
          </a:xfrm>
          <a:prstGeom prst="roundRect">
            <a:avLst>
              <a:gd name="adj" fmla="val 49263"/>
            </a:avLst>
          </a:prstGeom>
          <a:ln w="12700">
            <a:solidFill>
              <a:srgbClr val="7A797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67500" y="1587500"/>
            <a:ext cx="635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큐시트</a:t>
            </a:r>
            <a:endParaRPr lang="en-US" sz="1100" dirty="0"/>
          </a:p>
        </p:txBody>
      </p:sp>
      <p:pic>
        <p:nvPicPr>
          <p:cNvPr id="15" name="Image 0" descr="큐시트 예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500" y="1968500"/>
            <a:ext cx="10795000" cy="4229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8500" y="457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동아리 공연 사전 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953500" y="444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08</a:t>
            </a:r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/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89000"/>
            <a:ext cx="952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D35185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05  </a:t>
            </a:r>
            <a:pPr algn="l" indent="0" marL="0">
              <a:lnSpc>
                <a:spcPct val="100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동아리 공연 순서 발표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698500" y="1905000"/>
            <a:ext cx="698500" cy="292100"/>
          </a:xfrm>
          <a:prstGeom prst="rect">
            <a:avLst/>
          </a:prstGeom>
          <a:solidFill>
            <a:srgbClr val="D3518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DAY2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49400" y="1905000"/>
            <a:ext cx="317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11.05 · 18:00–20:00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8500" y="23241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8500" y="23241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1100" y="23241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오프닝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8500" y="27686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8500" y="27686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81100" y="27686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한동대학교 응원단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98500" y="32131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8500" y="32131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81100" y="32131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지지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98500" y="36576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8500" y="36576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1100" y="36576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한풍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98500" y="41021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8500" y="41021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1021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NEO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98500" y="45466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8500" y="45466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81100" y="45466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지오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98500" y="49911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8500" y="49911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81100" y="49911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피치파이프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98500" y="54356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8500" y="54356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181100" y="54356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즉흥적 새벽 두 시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98500" y="58801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45250" y="1905000"/>
            <a:ext cx="698500" cy="292100"/>
          </a:xfrm>
          <a:prstGeom prst="rect">
            <a:avLst/>
          </a:prstGeom>
          <a:solidFill>
            <a:srgbClr val="8891C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DAY3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296150" y="1905000"/>
            <a:ext cx="317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11.06 · 17:45–19:30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5250" y="23241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45250" y="23241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00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927850" y="23241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오프닝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45250" y="27686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45250" y="27686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01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927850" y="27686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천풍해세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6445250" y="32131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45250" y="32131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02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927850" y="32131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하향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445250" y="36576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5250" y="36576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03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927850" y="36576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소울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6445250" y="41021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45250" y="41021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04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927850" y="41021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미르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445250" y="45466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45250" y="45466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05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927850" y="45466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갓스펠로우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6445250" y="49911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445250" y="4991100"/>
            <a:ext cx="482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06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927850" y="4991100"/>
            <a:ext cx="456565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MIC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6445250" y="5435600"/>
            <a:ext cx="5048250" cy="0"/>
          </a:xfrm>
          <a:prstGeom prst="line">
            <a:avLst/>
          </a:prstGeom>
          <a:noFill/>
          <a:ln w="11430">
            <a:solidFill>
              <a:srgbClr val="2E2E2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8500" y="457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동아리 공연 사전 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953500" y="444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09</a:t>
            </a:r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/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89000"/>
            <a:ext cx="952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A0D096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06  </a:t>
            </a:r>
            <a:pPr algn="l" indent="0" marL="0">
              <a:lnSpc>
                <a:spcPct val="100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사회자 멘트</a:t>
            </a:r>
            <a:pPr algn="l"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  |  </a:t>
            </a:r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종합 공지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698500" y="2286000"/>
            <a:ext cx="571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사회자 멘트는</a:t>
            </a:r>
            <a:endParaRPr lang="en-US" sz="35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500" dirty="0">
                <a:solidFill>
                  <a:srgbClr val="000000"/>
                </a:solidFill>
                <a:highlight>
                  <a:srgbClr val="A0D096"/>
                </a:highlight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구글폼</a:t>
            </a:r>
            <a:pPr algn="l" indent="0" marL="0">
              <a:lnSpc>
                <a:spcPct val="120000"/>
              </a:lnSpc>
              <a:buNone/>
            </a:pPr>
            <a:r>
              <a:rPr lang="en-US" sz="3500" dirty="0">
                <a:solidFill>
                  <a:srgbClr val="FFFFFF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으로 받습니다</a:t>
            </a:r>
            <a:endParaRPr lang="en-US" sz="3500" dirty="0"/>
          </a:p>
        </p:txBody>
      </p:sp>
      <p:sp>
        <p:nvSpPr>
          <p:cNvPr id="6" name="Text 4"/>
          <p:cNvSpPr txBox="1"/>
          <p:nvPr/>
        </p:nvSpPr>
        <p:spPr>
          <a:xfrm>
            <a:off x="698500" y="3810000"/>
            <a:ext cx="571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공지된 구글폼 링크로 접속해</a:t>
            </a:r>
            <a:endParaRPr lang="en-US" sz="16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동아리별 사회자 멘트를 제출해주세요.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20991" y="2633283"/>
            <a:ext cx="2508531" cy="250853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080531" y="4514681"/>
            <a:ext cx="647363" cy="647363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0" y="5101354"/>
            <a:ext cx="364142" cy="36414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537097" y="1905000"/>
            <a:ext cx="2508531" cy="250853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10378035" y="3705478"/>
            <a:ext cx="647363" cy="647363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05168" y="4332611"/>
            <a:ext cx="364142" cy="36414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120991" y="2633283"/>
            <a:ext cx="2508531" cy="2508531"/>
          </a:xfrm>
          <a:prstGeom prst="ellipse">
            <a:avLst/>
          </a:prstGeom>
          <a:ln w="15875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37097" y="1905000"/>
            <a:ext cx="2508531" cy="2508531"/>
          </a:xfrm>
          <a:prstGeom prst="ellipse">
            <a:avLst/>
          </a:prstGeom>
          <a:ln w="1587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69200" y="3683000"/>
            <a:ext cx="152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사회자</a:t>
            </a:r>
            <a:endParaRPr lang="en-US" sz="2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멘트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9525000" y="2667000"/>
            <a:ext cx="152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구글폼</a:t>
            </a:r>
            <a:endParaRPr lang="en-US" sz="2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YoonChe Medium" pitchFamily="34" charset="0"/>
                <a:ea typeface="YoonChe Medium" pitchFamily="34" charset="-122"/>
                <a:cs typeface="YoonChe Medium" pitchFamily="34" charset="-120"/>
              </a:rPr>
              <a:t>제출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8500" y="457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동아리 공연 사전 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953500" y="444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10</a:t>
            </a:r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 /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35000" y="1905000"/>
            <a:ext cx="6985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0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Q&amp;A</a:t>
            </a:r>
            <a:endParaRPr lang="en-US" sz="16500" dirty="0"/>
          </a:p>
        </p:txBody>
      </p:sp>
      <p:sp>
        <p:nvSpPr>
          <p:cNvPr id="5" name="Text 3"/>
          <p:cNvSpPr txBox="1"/>
          <p:nvPr/>
        </p:nvSpPr>
        <p:spPr>
          <a:xfrm>
            <a:off x="711200" y="4445000"/>
            <a:ext cx="635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궁금한 점을 자유롭게 질문해주세요</a:t>
            </a:r>
            <a:endParaRPr lang="en-US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07 | 질의응답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703990" y="1708086"/>
            <a:ext cx="2411717" cy="2411717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24576" y="3848485"/>
            <a:ext cx="422051" cy="422051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42232" y="4300682"/>
            <a:ext cx="361758" cy="361758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03990" y="1949258"/>
            <a:ext cx="2411717" cy="1959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394" dirty="0">
                <a:solidFill>
                  <a:srgbClr val="FFFFFF"/>
                </a:solidFill>
                <a:latin typeface="Scatterplot VF" pitchFamily="34" charset="0"/>
                <a:ea typeface="Scatterplot VF" pitchFamily="34" charset="-122"/>
                <a:cs typeface="Scatterplot VF" pitchFamily="34" charset="-120"/>
              </a:rPr>
              <a:t>?</a:t>
            </a:r>
            <a:endParaRPr lang="en-US" sz="1139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BDA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8500" y="457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5B58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동아리 공연 사전 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953500" y="444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5B58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무대운영팀</a:t>
            </a:r>
            <a:endParaRPr lang="en-US" sz="1100" dirty="0"/>
          </a:p>
        </p:txBody>
      </p:sp>
      <p:pic>
        <p:nvPicPr>
          <p:cNvPr id="4" name="Image 0" descr="/tmp/claude-0/-home-user--/d4824d1a-d19e-5bee-9489-6869dd4e929e/scratchpad/web/logo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1000" y="1143000"/>
            <a:ext cx="6032500" cy="238244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98500" y="4318000"/>
            <a:ext cx="6985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0" dirty="0">
                <a:solidFill>
                  <a:srgbClr val="000000"/>
                </a:solidFill>
                <a:latin typeface="YoonChe Bold" pitchFamily="34" charset="0"/>
                <a:ea typeface="YoonChe Bold" pitchFamily="34" charset="-122"/>
                <a:cs typeface="YoonChe Bold" pitchFamily="34" charset="-120"/>
              </a:rPr>
              <a:t>감사합니다</a:t>
            </a:r>
            <a:endParaRPr lang="en-US" sz="7000" dirty="0"/>
          </a:p>
        </p:txBody>
      </p:sp>
      <p:sp>
        <p:nvSpPr>
          <p:cNvPr id="6" name="Text 3"/>
          <p:cNvSpPr txBox="1"/>
          <p:nvPr/>
        </p:nvSpPr>
        <p:spPr>
          <a:xfrm>
            <a:off x="736600" y="5461000"/>
            <a:ext cx="508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C5B58"/>
                </a:solidFill>
                <a:latin typeface="YoonChe Light" pitchFamily="34" charset="0"/>
                <a:ea typeface="YoonChe Light" pitchFamily="34" charset="-122"/>
                <a:cs typeface="YoonChe Light" pitchFamily="34" charset="-120"/>
              </a:rPr>
              <a:t>2026 창문축제 | 무대운영팀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별 꿈이 다 있네 · 동아리 공연 사전 OT</dc:title>
  <dc:subject>PptxGenJS Presentation</dc:subject>
  <dc:creator>무대운영팀</dc:creator>
  <cp:lastModifiedBy>무대운영팀</cp:lastModifiedBy>
  <cp:revision>1</cp:revision>
  <dcterms:created xsi:type="dcterms:W3CDTF">2026-10-12T16:54:44Z</dcterms:created>
  <dcterms:modified xsi:type="dcterms:W3CDTF">2026-10-12T16:54:44Z</dcterms:modified>
</cp:coreProperties>
</file>